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THE CLAUDE MAINFRAME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D3"/>
                </a:solidFill>
                <a:latin typeface="Calibri"/>
              </a:defRPr>
            </a:pPr>
            <a:r>
              <a:t>A Plug-and-Play Operating System for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SOPs, skills, frameworks, and automation — personalized to you</a:t>
            </a:r>
            <a:br/>
            <a:r>
              <a:t>through an identity scan of your environment.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73152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High Rise Influence  ×  BlitzMetrics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Claude is powerful. But every session starts from zero.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161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Every new conversation, you re-explain who you are and what you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161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No memory of your SOPs, frameworks, or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161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No awareness of your clients, team, or priorities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161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17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No quality standards — output varies wildly between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161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You can't share what works with your team or clients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Mainframe gives Claude a brain before the conversation starts.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Loads your personal context automatically — who you are, what you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Routes tasks to the right SOP or skill — no guessing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Enforces quality standards — 18-step QA, canon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17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Compounds over time — every session makes it smarter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Shareable — your team runs the same system, customized to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Two Layers: Shared Core + Personal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4572000" cy="3840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6FFF"/>
                </a:solidFill>
                <a:latin typeface="Calibri"/>
              </a:defRPr>
            </a:pPr>
            <a:r>
              <a:t>SHARED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Same for everyone — synced via 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4747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8E8E8"/>
                </a:solidFill>
                <a:latin typeface="Calibri"/>
              </a:defRPr>
            </a:pPr>
            <a:r>
              <a:t>12 Skills — action-oriented Claude prompts</a:t>
            </a:r>
          </a:p>
          <a:p>
            <a:pPr>
              <a:spcAft>
                <a:spcPts val="1000"/>
              </a:spcAft>
              <a:defRPr sz="1500">
                <a:solidFill>
                  <a:srgbClr val="E8E8E8"/>
                </a:solidFill>
                <a:latin typeface="Calibri"/>
              </a:defRPr>
            </a:pPr>
            <a:r>
              <a:t>25 SOPs — step-by-step procedures</a:t>
            </a:r>
          </a:p>
          <a:p>
            <a:pPr>
              <a:spcAft>
                <a:spcPts val="1000"/>
              </a:spcAft>
              <a:defRPr sz="1500">
                <a:solidFill>
                  <a:srgbClr val="E8E8E8"/>
                </a:solidFill>
                <a:latin typeface="Calibri"/>
              </a:defRPr>
            </a:pPr>
            <a:r>
              <a:t>15 Canon Files — source-of-truth frameworks</a:t>
            </a:r>
          </a:p>
          <a:p>
            <a:pPr>
              <a:spcAft>
                <a:spcPts val="1000"/>
              </a:spcAft>
              <a:defRPr sz="1500">
                <a:solidFill>
                  <a:srgbClr val="E8E8E8"/>
                </a:solidFill>
                <a:latin typeface="Calibri"/>
              </a:defRPr>
            </a:pPr>
            <a:r>
              <a:t>Team-Ops Templates — directory, roles, matrix</a:t>
            </a:r>
          </a:p>
          <a:p>
            <a:pPr>
              <a:spcAft>
                <a:spcPts val="1000"/>
              </a:spcAft>
              <a:defRPr sz="1500">
                <a:solidFill>
                  <a:srgbClr val="E8E8E8"/>
                </a:solidFill>
                <a:latin typeface="Calibri"/>
              </a:defRPr>
            </a:pPr>
            <a:r>
              <a:t>Scripts &amp; Hooks — automation infrastructure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4572000" cy="3840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Calibri"/>
              </a:defRPr>
            </a:pPr>
            <a:r>
              <a:t>PERSONAL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Unique to you — stays on your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4747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8E8E8"/>
                </a:solidFill>
                <a:latin typeface="Calibri"/>
              </a:defRPr>
            </a:pPr>
            <a:r>
              <a:t>CONTEXT.md — who you are, what you do</a:t>
            </a:r>
          </a:p>
          <a:p>
            <a:pPr>
              <a:spcAft>
                <a:spcPts val="1000"/>
              </a:spcAft>
              <a:defRPr sz="1500">
                <a:solidFill>
                  <a:srgbClr val="E8E8E8"/>
                </a:solidFill>
                <a:latin typeface="Calibri"/>
              </a:defRPr>
            </a:pPr>
            <a:r>
              <a:t>Memory Bank — clients, team, priorities</a:t>
            </a:r>
          </a:p>
          <a:p>
            <a:pPr>
              <a:spcAft>
                <a:spcPts val="1000"/>
              </a:spcAft>
              <a:defRPr sz="1500">
                <a:solidFill>
                  <a:srgbClr val="E8E8E8"/>
                </a:solidFill>
                <a:latin typeface="Calibri"/>
              </a:defRPr>
            </a:pPr>
            <a:r>
              <a:t>Communication Style — tone, sign-off, patterns</a:t>
            </a:r>
          </a:p>
          <a:p>
            <a:pPr>
              <a:spcAft>
                <a:spcPts val="1000"/>
              </a:spcAft>
              <a:defRPr sz="1500">
                <a:solidFill>
                  <a:srgbClr val="E8E8E8"/>
                </a:solidFill>
                <a:latin typeface="Calibri"/>
              </a:defRPr>
            </a:pPr>
            <a:r>
              <a:t>Active Projects — what's happening now</a:t>
            </a:r>
          </a:p>
          <a:p>
            <a:pPr>
              <a:spcAft>
                <a:spcPts val="1000"/>
              </a:spcAft>
              <a:defRPr sz="1500">
                <a:solidFill>
                  <a:srgbClr val="E8E8E8"/>
                </a:solidFill>
                <a:latin typeface="Calibri"/>
              </a:defRPr>
            </a:pPr>
            <a:r>
              <a:t>Auto-generated by Identity Scan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THE IDENTITY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Claude reads your world and builds your context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16002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6FFF"/>
                </a:solidFill>
                <a:latin typeface="Calibri"/>
              </a:defRPr>
            </a:pPr>
            <a:r>
              <a:t>Computer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Projects, documents,</a:t>
            </a:r>
            <a:br/>
            <a:r>
              <a:t>code repos, configs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2560320"/>
            <a:ext cx="16002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27432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97B"/>
                </a:solidFill>
                <a:latin typeface="Calibri"/>
              </a:defRPr>
            </a:pPr>
            <a:r>
              <a:t>Gmail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74904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Contacts, threads,</a:t>
            </a:r>
            <a:br/>
            <a:r>
              <a:t>communication style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560320"/>
            <a:ext cx="16002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7432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740"/>
                </a:solidFill>
                <a:latin typeface="Calibri"/>
              </a:defRPr>
            </a:pPr>
            <a:r>
              <a:t>Calendar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74904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Meetings, patterns,</a:t>
            </a:r>
            <a:br/>
            <a:r>
              <a:t>key relationships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60320"/>
            <a:ext cx="16002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7432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D3"/>
                </a:solidFill>
                <a:latin typeface="Calibri"/>
              </a:defRPr>
            </a:pPr>
            <a:r>
              <a:t>Google Drive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4904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Shared docs, client</a:t>
            </a:r>
            <a:br/>
            <a:r>
              <a:t>folders, 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560320"/>
            <a:ext cx="16002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7432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B6EFF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74904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Repos, contributions,</a:t>
            </a:r>
            <a:br/>
            <a:r>
              <a:t>collaborators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29800" y="2560320"/>
            <a:ext cx="16002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7432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161"/>
                </a:solidFill>
                <a:latin typeface="Calibri"/>
              </a:defRPr>
            </a:pPr>
            <a:r>
              <a:t>Notion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74904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Workspaces, databases,</a:t>
            </a:r>
            <a:br/>
            <a:r>
              <a:t>project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You choose which sources to scan. All data stays on your machine. Nothing is shared or uploaded.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D3"/>
                </a:solidFill>
                <a:latin typeface="Calibri"/>
              </a:defRPr>
            </a:pPr>
            <a:r>
              <a:t>↓  YOUR CONTEXT.md  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STEP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Clone the Repo &amp; Run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Calibri"/>
              </a:defRPr>
            </a:pPr>
            <a:r>
              <a:t>Two commands. Under 2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108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ourier New"/>
              </a:defRPr>
            </a:pPr>
            <a:r>
              <a:t># Clone the Mainframe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4015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97B"/>
                </a:solidFill>
                <a:latin typeface="Courier New"/>
              </a:defRPr>
            </a:pPr>
            <a:r>
              <a:t>git clone https://github.com/Jwendt0324/mainframe.git \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941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97B"/>
                </a:solidFill>
                <a:latin typeface="Courier New"/>
              </a:defRPr>
            </a:pPr>
            <a:r>
              <a:t>    ~/Documents/Claude/Mainframe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79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ourier New"/>
              </a:defRPr>
            </a:pPr>
            <a:r>
              <a:t># Run the one-time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97B"/>
                </a:solidFill>
                <a:latin typeface="Courier New"/>
              </a:defRPr>
            </a:pPr>
            <a:r>
              <a:t>cd ~/Documents/Claude/Mainframe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864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97B"/>
                </a:solidFill>
                <a:latin typeface="Courier New"/>
              </a:defRPr>
            </a:pPr>
            <a:r>
              <a:t>chmod +x setup.sh &amp;&amp; ./setup.sh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Setup creates your .personal/ folder, generates your CLAUDE.md, and sets up logging.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STEP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Run the Identity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Calibri"/>
              </a:defRPr>
            </a:pPr>
            <a:r>
              <a:t>Open Claude Code and say one sentence.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063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ourier New"/>
              </a:defRPr>
            </a:pPr>
            <a:r>
              <a:t>&gt;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063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C97B"/>
                </a:solidFill>
                <a:latin typeface="Courier New"/>
              </a:defRPr>
            </a:pPr>
            <a:r>
              <a:t>"Run the identity scan"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ourier New"/>
              </a:defRPr>
            </a:pPr>
            <a:r>
              <a:t>Claude scans your environment and asks which sources to include.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What gets generated: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Courier New"/>
              </a:defRPr>
            </a:pPr>
            <a:r>
              <a:t>CONTEXT.md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alibri"/>
              </a:defRPr>
            </a:pPr>
            <a:r>
              <a:t>Your complete business profile — who you are, team, clients, priorities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Courier New"/>
              </a:defRPr>
            </a:pPr>
            <a:r>
              <a:t>memory-bank/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349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alibri"/>
              </a:defRPr>
            </a:pPr>
            <a:r>
              <a:t>11 files covering identity, business, team, clients, relationships,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Courier New"/>
              </a:defRPr>
            </a:pPr>
            <a:r>
              <a:t>config.yml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852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alibri"/>
              </a:defRPr>
            </a:pPr>
            <a:r>
              <a:t>Record of what was scanned and when — for future refreshes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STEP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Just Use Claude Code. The Mainframe Does the 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You open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D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286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6FFF"/>
                </a:solidFill>
                <a:latin typeface="Calibri"/>
              </a:defRPr>
            </a:pPr>
            <a:r>
              <a:t>Mainframe loads your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D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You give a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D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86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C97B"/>
                </a:solidFill>
                <a:latin typeface="Calibri"/>
              </a:defRPr>
            </a:pPr>
            <a:r>
              <a:t>SOP Router matches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D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286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740"/>
                </a:solidFill>
                <a:latin typeface="Calibri"/>
              </a:defRPr>
            </a:pPr>
            <a:r>
              <a:t>Claude follows the skill/SOP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Example tasks the Mainframe handles: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D3"/>
                </a:solidFill>
                <a:latin typeface="Courier New"/>
              </a:defRPr>
            </a:pPr>
            <a:r>
              <a:t>"Write an article from this transcript"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023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→  article-writer.md skill  →  18-step QA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D3"/>
                </a:solidFill>
                <a:latin typeface="Courier New"/>
              </a:defRPr>
            </a:pPr>
            <a:r>
              <a:t>"Run Dollar-a-Day for this client"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480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→  dollar-a-day.md skill  →  3-phase campaign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D3"/>
                </a:solidFill>
                <a:latin typeface="Courier New"/>
              </a:defRPr>
            </a:pPr>
            <a:r>
              <a:t>"Build a KP sprint plan"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937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→  kp-sprint.md skill  →  30-day timeline with milestones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394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D3"/>
                </a:solidFill>
                <a:latin typeface="Courier New"/>
              </a:defRPr>
            </a:pPr>
            <a:r>
              <a:t>"Write the weekly MAA report"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→  weekly-maa-report.md  →  Metrics, Analysis, Action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852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D3"/>
                </a:solidFill>
                <a:latin typeface="Courier New"/>
              </a:defRPr>
            </a:pPr>
            <a:r>
              <a:t>"Onboard a new client"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852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→  client-onboarding SOP  →  GCT form + access checklist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WHAT'S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12 Skills — Ready-to-Execute Action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6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Content Factory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6-stage content production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6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Article Writer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Transcript-to-article with voice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6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Article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18-step BlitzMetrics quality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6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Dollar-a-Day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062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3-phase paid social campaign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6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Content Repurposing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Long-form to multi-platform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6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Weekly MAA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486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Metrics, Analysis, Action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6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KP Sprint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30-day Knowledge Panel accelerator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6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Influence Report Card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Authority score and presence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66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6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Personal Brand 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WordPress site build for KP clients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062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6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062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Prospect Follow-up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2062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Discovery call prep and qualification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46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6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SOP Router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Auto-matches tasks to the right SOP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86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6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Mainframe 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486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System operating instructions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THE CANON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15 Source-of-Truth Frameworks Built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740"/>
                </a:solidFill>
                <a:latin typeface="Calibri"/>
              </a:defRPr>
            </a:pPr>
            <a:r>
              <a:t>If an SOP contradicts a canon file, the canon is correct. Always.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3291840" cy="457200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6FFF"/>
                </a:solidFill>
                <a:latin typeface="Calibri"/>
              </a:defRPr>
            </a:pPr>
            <a:r>
              <a:t>SBP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Specialist / Business /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6FFF"/>
                </a:solidFill>
                <a:latin typeface="Calibri"/>
              </a:defRPr>
            </a:pPr>
            <a:r>
              <a:t>ACC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Awareness / Consideration /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6FFF"/>
                </a:solidFill>
                <a:latin typeface="Calibri"/>
              </a:defRPr>
            </a:pPr>
            <a:r>
              <a:t>GCT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Goals / Content / Targeting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926080"/>
            <a:ext cx="3291840" cy="4572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66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Calibri"/>
              </a:defRPr>
            </a:pPr>
            <a:r>
              <a:t>MAA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Metrics / Analysis /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Calibri"/>
              </a:defRPr>
            </a:pPr>
            <a:r>
              <a:t>LDT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Learn / Do / Teach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Calibri"/>
              </a:defRPr>
            </a:pPr>
            <a:r>
              <a:t>CCS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Content / Checklist / Software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926080"/>
            <a:ext cx="3291840" cy="4572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66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DDD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Do / Delegate / 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CID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Communicate / Iterate / Delegate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MOF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Marketing / Operations /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740"/>
                </a:solidFill>
                <a:latin typeface="Calibri"/>
              </a:defRPr>
            </a:pPr>
            <a:r>
              <a:t>Content Factory:  Plumbing → Produce → Process → Post → Promote → Perform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Always 6 stages. Never 4 or 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FOR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Everyone Runs the Same System. Customized to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320040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03120" y="2743200"/>
            <a:ext cx="731520" cy="731520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6FFF"/>
                </a:solidFill>
                <a:latin typeface="Calibri"/>
              </a:defRPr>
            </a:pPr>
            <a:r>
              <a:t>Founder /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Calibri"/>
              </a:defRPr>
            </a:pPr>
            <a:r>
              <a:t>Full business context, all clients,</a:t>
            </a:r>
            <a:br/>
            <a:r>
              <a:t>financial data, strategic priorities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560320"/>
            <a:ext cx="320040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2743200"/>
            <a:ext cx="731520" cy="7315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97B"/>
                </a:solidFill>
                <a:latin typeface="Calibri"/>
              </a:defRPr>
            </a:pPr>
            <a:r>
              <a:t>Content Specialist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Calibri"/>
              </a:defRPr>
            </a:pPr>
            <a:r>
              <a:t>Assigned clients, content pipeline,</a:t>
            </a:r>
            <a:br/>
            <a:r>
              <a:t>article QA standards, voice profiles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560320"/>
            <a:ext cx="320040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18320" y="2743200"/>
            <a:ext cx="731520" cy="731520"/>
          </a:xfrm>
          <a:prstGeom prst="rect">
            <a:avLst/>
          </a:prstGeom>
          <a:solidFill>
            <a:srgbClr val="FF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740"/>
                </a:solidFill>
                <a:latin typeface="Calibri"/>
              </a:defRPr>
            </a:pPr>
            <a:r>
              <a:t>Client / 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Calibri"/>
              </a:defRPr>
            </a:pPr>
            <a:r>
              <a:t>Their business context only,</a:t>
            </a:r>
            <a:br/>
            <a:r>
              <a:t>relevant SOPs, their team directory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Same SOPs. Same quality standards. Same methodology.</a:t>
            </a:r>
            <a:br/>
            <a:r>
              <a:t>Different personal context loaded on boot.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COMPOUND, DON'T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Every Session Makes the Mainframe Smarter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2560320"/>
            <a:ext cx="36576" cy="3200400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6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Calibri"/>
              </a:defRPr>
            </a:pPr>
            <a:r>
              <a:t>Identity scan builds</a:t>
            </a:r>
            <a:br/>
            <a:r>
              <a:t>your initial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6FFF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context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2560320"/>
            <a:ext cx="36576" cy="32004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D3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918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Calibri"/>
              </a:defRPr>
            </a:pPr>
            <a:r>
              <a:t>Memory bank fills in</a:t>
            </a:r>
            <a:br/>
            <a:r>
              <a:t>from daily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D3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context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560320"/>
            <a:ext cx="36576" cy="3200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97B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918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Calibri"/>
              </a:defRPr>
            </a:pPr>
            <a:r>
              <a:t>SOPs get updated with</a:t>
            </a:r>
            <a:br/>
            <a:r>
              <a:t>your discoveries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97B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context accuracy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9" y="2560320"/>
            <a:ext cx="36576" cy="3200400"/>
          </a:xfrm>
          <a:prstGeom prst="rect">
            <a:avLst/>
          </a:prstGeom>
          <a:solidFill>
            <a:srgbClr val="FF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9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740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32918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Calibri"/>
              </a:defRPr>
            </a:pPr>
            <a:r>
              <a:t>System knows you as well</a:t>
            </a:r>
            <a:br/>
            <a:r>
              <a:t>as a veteran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9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740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context accuracy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20" y="2560320"/>
            <a:ext cx="36576" cy="3200400"/>
          </a:xfrm>
          <a:prstGeom prst="rect">
            <a:avLst/>
          </a:prstGeom>
          <a:solidFill>
            <a:srgbClr val="AB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B6EFF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2918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Calibri"/>
              </a:defRPr>
            </a:pPr>
            <a:r>
              <a:t>Auto-updates, never</a:t>
            </a:r>
            <a:br/>
            <a:r>
              <a:t>starts from zero again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B6EFF"/>
                </a:solidFill>
                <a:latin typeface="Calibri"/>
              </a:defRPr>
            </a:pPr>
            <a:r>
              <a:t>99%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context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PRIVACY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Your Data Stays on Your Machine. Period.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Local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alibri"/>
              </a:defRPr>
            </a:pPr>
            <a:r>
              <a:t>All personal context lives in .personal/ on YOUR computer. Never uploaded.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Git-Ignored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alibri"/>
              </a:defRPr>
            </a:pPr>
            <a:r>
              <a:t>Personal files are in .gitignore. They never touch the shared repo.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👁️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You Choose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023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alibri"/>
              </a:defRPr>
            </a:pPr>
            <a:r>
              <a:t>The identity scan asks permission before scanning each source.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🗑️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Deletable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alibri"/>
              </a:defRPr>
            </a:pPr>
            <a:r>
              <a:t>Delete .personal/ at any time to reset. Run the scan again to rebuild.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Read-Only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alibri"/>
              </a:defRPr>
            </a:pPr>
            <a:r>
              <a:t>The identity scan only reads. It never modifies, sends, or publishes.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Calibri"/>
              </a:defRPr>
            </a:pPr>
            <a:r>
              <a:t>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Three Steps. Five Minutes. Permanently Better Claude.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2560320"/>
            <a:ext cx="1097280" cy="1097280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26974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Clone &amp;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Calibri"/>
              </a:defRPr>
            </a:pPr>
            <a:r>
              <a:t>git clone + ./setup.sh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6FFF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560320"/>
            <a:ext cx="1097280" cy="109728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6974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Identity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Calibri"/>
              </a:defRPr>
            </a:pPr>
            <a:r>
              <a:t>"Run the identity scan"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D3"/>
                </a:solidFill>
                <a:latin typeface="Calibri"/>
              </a:defRPr>
            </a:pPr>
            <a:r>
              <a:t>5-15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560320"/>
            <a:ext cx="1097280" cy="10972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6974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Use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Calibri"/>
              </a:defRPr>
            </a:pPr>
            <a:r>
              <a:t>Every session is now</a:t>
            </a:r>
            <a:br/>
            <a:r>
              <a:t>personalized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C97B"/>
                </a:solidFill>
                <a:latin typeface="Calibri"/>
              </a:defRPr>
            </a:pPr>
            <a:r>
              <a:t>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5669280"/>
            <a:ext cx="6400800" cy="640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5760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7B"/>
                </a:solidFill>
                <a:latin typeface="Courier New"/>
              </a:defRPr>
            </a:pPr>
            <a:r>
              <a:t>github.com/Jwendt0324/mainframe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Stop explaining yourself</a:t>
            </a:r>
            <a:br/>
            <a:r>
              <a:t>to Claude every session.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D3"/>
                </a:solidFill>
                <a:latin typeface="Calibri"/>
              </a:defRPr>
            </a:pPr>
            <a:r>
              <a:t>Let the Mainframe do it for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73152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High Rise Influence  ×  BlitzMetrics  |  github.com/Jwendt0324/mainframe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